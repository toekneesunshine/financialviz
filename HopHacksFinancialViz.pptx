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62" r:id="rId3"/>
    <p:sldId id="258" r:id="rId4"/>
    <p:sldId id="259" r:id="rId5"/>
    <p:sldId id="263" r:id="rId6"/>
    <p:sldId id="264" r:id="rId7"/>
    <p:sldId id="265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7" autoAdjust="0"/>
    <p:restoredTop sz="94599" autoAdjust="0"/>
  </p:normalViewPr>
  <p:slideViewPr>
    <p:cSldViewPr snapToGrid="0" snapToObjects="1">
      <p:cViewPr>
        <p:scale>
          <a:sx n="90" d="100"/>
          <a:sy n="90" d="100"/>
        </p:scale>
        <p:origin x="-1992" y="-4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interSettings" Target="printerSettings/printerSettings1.bin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78D8B-2E2C-034B-A323-8C2FB0D585EC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FB164-E5D2-C440-9B0D-9FDE7A03D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28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7FB164-E5D2-C440-9B0D-9FDE7A03D87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481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811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810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837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561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0822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199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45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906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330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64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7129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17E8F0-D2E5-4E4E-BEB7-CAD1E8B1E2AD}" type="datetimeFigureOut">
              <a:rPr lang="en-US" smtClean="0"/>
              <a:t>10/23/16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874993-E009-FB4A-AA89-F733B63F0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806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606426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venir Black"/>
                <a:cs typeface="Avenir Black"/>
              </a:rPr>
              <a:t>Stock market visualization and classification based on real-time data</a:t>
            </a:r>
            <a:endParaRPr lang="en-US" dirty="0">
              <a:latin typeface="Avenir Black"/>
              <a:cs typeface="Avenir Black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732867"/>
            <a:ext cx="6400800" cy="1752600"/>
          </a:xfrm>
        </p:spPr>
        <p:txBody>
          <a:bodyPr>
            <a:normAutofit fontScale="85000" lnSpcReduction="20000"/>
          </a:bodyPr>
          <a:lstStyle/>
          <a:p>
            <a:r>
              <a:rPr lang="en-US" dirty="0" err="1" smtClean="0">
                <a:solidFill>
                  <a:srgbClr val="000000"/>
                </a:solidFill>
                <a:latin typeface="Avenir Light"/>
                <a:cs typeface="Avenir Light"/>
              </a:rPr>
              <a:t>Yechan</a:t>
            </a:r>
            <a:r>
              <a:rPr lang="en-US" dirty="0" smtClean="0">
                <a:solidFill>
                  <a:srgbClr val="000000"/>
                </a:solidFill>
                <a:latin typeface="Avenir Light"/>
                <a:cs typeface="Avenir Light"/>
              </a:rPr>
              <a:t> Kim, Albert </a:t>
            </a:r>
            <a:r>
              <a:rPr lang="en-US" dirty="0" smtClean="0">
                <a:solidFill>
                  <a:srgbClr val="000000"/>
                </a:solidFill>
                <a:latin typeface="Avenir Light"/>
                <a:cs typeface="Avenir Light"/>
              </a:rPr>
              <a:t>Lee</a:t>
            </a:r>
            <a:r>
              <a:rPr lang="en-US" dirty="0" smtClean="0">
                <a:solidFill>
                  <a:srgbClr val="000000"/>
                </a:solidFill>
                <a:latin typeface="Avenir Light"/>
                <a:cs typeface="Avenir Light"/>
              </a:rPr>
              <a:t>,</a:t>
            </a:r>
          </a:p>
          <a:p>
            <a:r>
              <a:rPr lang="en-US" dirty="0" smtClean="0">
                <a:solidFill>
                  <a:srgbClr val="000000"/>
                </a:solidFill>
                <a:latin typeface="Avenir Light"/>
                <a:cs typeface="Avenir Light"/>
              </a:rPr>
              <a:t>Tony Sun, </a:t>
            </a:r>
            <a:r>
              <a:rPr lang="en-US" dirty="0" smtClean="0">
                <a:solidFill>
                  <a:srgbClr val="000000"/>
                </a:solidFill>
                <a:latin typeface="Avenir Light"/>
                <a:cs typeface="Avenir Light"/>
              </a:rPr>
              <a:t>Luke Zhu</a:t>
            </a:r>
          </a:p>
          <a:p>
            <a:endParaRPr lang="en-US" dirty="0">
              <a:solidFill>
                <a:srgbClr val="000000"/>
              </a:solidFill>
              <a:latin typeface="Avenir Light"/>
              <a:cs typeface="Avenir Light"/>
            </a:endParaRPr>
          </a:p>
          <a:p>
            <a:r>
              <a:rPr lang="en-US" dirty="0" smtClean="0">
                <a:solidFill>
                  <a:srgbClr val="000000"/>
                </a:solidFill>
                <a:latin typeface="Avenir Light"/>
                <a:cs typeface="Avenir Light"/>
              </a:rPr>
              <a:t>Johns Hopkins University</a:t>
            </a:r>
            <a:endParaRPr lang="en-US" dirty="0">
              <a:solidFill>
                <a:srgbClr val="000000"/>
              </a:solidFill>
              <a:latin typeface="Avenir Light"/>
              <a:cs typeface="Avenir Light"/>
            </a:endParaRPr>
          </a:p>
        </p:txBody>
      </p:sp>
    </p:spTree>
    <p:extLst>
      <p:ext uri="{BB962C8B-B14F-4D97-AF65-F5344CB8AC3E}">
        <p14:creationId xmlns:p14="http://schemas.microsoft.com/office/powerpoint/2010/main" val="931978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xmlns:p14="http://schemas.microsoft.com/office/powerpoint/2010/main" spd="slow"/>
    </mc:Fallback>
  </mc:AlternateContent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smtClean="0">
                <a:solidFill>
                  <a:srgbClr val="000000"/>
                </a:solidFill>
                <a:latin typeface="Avenir Light"/>
                <a:cs typeface="Avenir Light"/>
              </a:rPr>
              <a:t>Problem</a:t>
            </a:r>
            <a:endParaRPr lang="en-US" b="1" dirty="0">
              <a:solidFill>
                <a:srgbClr val="000000"/>
              </a:solidFill>
              <a:latin typeface="Avenir Light"/>
              <a:cs typeface="Avenir Ligh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404578" cy="4525963"/>
          </a:xfrm>
        </p:spPr>
        <p:txBody>
          <a:bodyPr>
            <a:noAutofit/>
          </a:bodyPr>
          <a:lstStyle/>
          <a:p>
            <a:r>
              <a:rPr lang="en-US" sz="2000" dirty="0" smtClean="0">
                <a:latin typeface="Avenir Light"/>
                <a:cs typeface="Avenir Light"/>
              </a:rPr>
              <a:t>- </a:t>
            </a:r>
            <a:r>
              <a:rPr lang="en-US" sz="2000" dirty="0">
                <a:latin typeface="Avenir Light"/>
                <a:cs typeface="Avenir Light"/>
              </a:rPr>
              <a:t>Financial projections are highly influenced by impactful current events</a:t>
            </a:r>
          </a:p>
          <a:p>
            <a:r>
              <a:rPr lang="en-US" sz="2000" dirty="0">
                <a:latin typeface="Avenir Light"/>
                <a:cs typeface="Avenir Light"/>
              </a:rPr>
              <a:t>- Most statistical models are inconsistent when fed real-time </a:t>
            </a:r>
            <a:r>
              <a:rPr lang="en-US" sz="2000" dirty="0" smtClean="0">
                <a:latin typeface="Avenir Light"/>
                <a:cs typeface="Avenir Light"/>
              </a:rPr>
              <a:t>data</a:t>
            </a:r>
            <a:endParaRPr lang="en-US" sz="2000" dirty="0">
              <a:latin typeface="Avenir Light"/>
              <a:cs typeface="Avenir Light"/>
            </a:endParaRPr>
          </a:p>
          <a:p>
            <a:endParaRPr lang="en-US" sz="2000" dirty="0" smtClean="0">
              <a:latin typeface="Avenir Light"/>
              <a:cs typeface="Avenir Light"/>
            </a:endParaRPr>
          </a:p>
          <a:p>
            <a:endParaRPr lang="en-US" sz="2000" dirty="0" smtClean="0">
              <a:latin typeface="Avenir Light"/>
              <a:cs typeface="Avenir Light"/>
            </a:endParaRPr>
          </a:p>
          <a:p>
            <a:pPr marL="0" indent="0">
              <a:buNone/>
            </a:pPr>
            <a:endParaRPr lang="en-US" sz="2000" dirty="0">
              <a:latin typeface="Avenir Light"/>
              <a:cs typeface="Avenir Light"/>
            </a:endParaRPr>
          </a:p>
        </p:txBody>
      </p:sp>
    </p:spTree>
    <p:extLst>
      <p:ext uri="{BB962C8B-B14F-4D97-AF65-F5344CB8AC3E}">
        <p14:creationId xmlns:p14="http://schemas.microsoft.com/office/powerpoint/2010/main" val="2890811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38111"/>
            <a:ext cx="8229600" cy="4699000"/>
          </a:xfrm>
        </p:spPr>
        <p:txBody>
          <a:bodyPr>
            <a:normAutofit lnSpcReduction="10000"/>
          </a:bodyPr>
          <a:lstStyle/>
          <a:p>
            <a:r>
              <a:rPr lang="en-US" dirty="0" smtClean="0">
                <a:latin typeface="Avenir Light"/>
                <a:cs typeface="Avenir Light"/>
              </a:rPr>
              <a:t>- </a:t>
            </a:r>
            <a:r>
              <a:rPr lang="en-US" dirty="0">
                <a:latin typeface="Avenir Light"/>
                <a:cs typeface="Avenir Light"/>
              </a:rPr>
              <a:t>Groups </a:t>
            </a:r>
            <a:r>
              <a:rPr lang="en-US" dirty="0" smtClean="0">
                <a:latin typeface="Avenir Light"/>
                <a:cs typeface="Avenir Light"/>
              </a:rPr>
              <a:t>companies </a:t>
            </a:r>
            <a:r>
              <a:rPr lang="en-US" dirty="0">
                <a:latin typeface="Avenir Light"/>
                <a:cs typeface="Avenir Light"/>
              </a:rPr>
              <a:t>in </a:t>
            </a:r>
            <a:r>
              <a:rPr lang="en-US" dirty="0" smtClean="0">
                <a:latin typeface="Avenir Light"/>
                <a:cs typeface="Avenir Light"/>
              </a:rPr>
              <a:t>select industries that are direct competitors</a:t>
            </a:r>
            <a:endParaRPr lang="en-US" dirty="0">
              <a:latin typeface="Avenir Light"/>
              <a:cs typeface="Avenir Light"/>
            </a:endParaRPr>
          </a:p>
          <a:p>
            <a:r>
              <a:rPr lang="en-US" dirty="0">
                <a:latin typeface="Avenir Light"/>
                <a:cs typeface="Avenir Light"/>
              </a:rPr>
              <a:t>- Analyzes trends with support from automatically generated relevant news articles</a:t>
            </a:r>
          </a:p>
          <a:p>
            <a:r>
              <a:rPr lang="en-US" dirty="0">
                <a:latin typeface="Avenir Light"/>
                <a:cs typeface="Avenir Light"/>
              </a:rPr>
              <a:t>- Uses machine learning to detect stock behavior from articles in real-time</a:t>
            </a:r>
          </a:p>
          <a:p>
            <a:r>
              <a:rPr lang="en-US" dirty="0">
                <a:latin typeface="Avenir Light"/>
                <a:cs typeface="Avenir Light"/>
              </a:rPr>
              <a:t>- Classification aids in predicting future market behavior</a:t>
            </a:r>
            <a:endParaRPr lang="en-US" dirty="0">
              <a:latin typeface="Avenir Light"/>
              <a:cs typeface="Avenir Ligh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1"/>
                </a:solidFill>
                <a:latin typeface="Perpetua Titling MT"/>
                <a:cs typeface="Perpetua Titling MT"/>
              </a:rPr>
              <a:t>The Solution</a:t>
            </a:r>
            <a:endParaRPr lang="en-US" dirty="0">
              <a:solidFill>
                <a:schemeClr val="bg1"/>
              </a:solidFill>
              <a:latin typeface="Perpetua Titling MT"/>
              <a:cs typeface="Perpetua Titling MT"/>
            </a:endParaRPr>
          </a:p>
        </p:txBody>
      </p:sp>
      <p:sp>
        <p:nvSpPr>
          <p:cNvPr id="13" name="Title 1"/>
          <p:cNvSpPr txBox="1">
            <a:spLocks/>
          </p:cNvSpPr>
          <p:nvPr/>
        </p:nvSpPr>
        <p:spPr>
          <a:xfrm>
            <a:off x="457200" y="27463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smtClean="0">
                <a:latin typeface="Avenir Light"/>
                <a:cs typeface="Avenir Light"/>
              </a:rPr>
              <a:t>Our Product</a:t>
            </a:r>
            <a:endParaRPr lang="en-US" b="1" dirty="0">
              <a:latin typeface="Avenir Light"/>
              <a:cs typeface="Avenir Light"/>
            </a:endParaRPr>
          </a:p>
        </p:txBody>
      </p:sp>
    </p:spTree>
    <p:extLst>
      <p:ext uri="{BB962C8B-B14F-4D97-AF65-F5344CB8AC3E}">
        <p14:creationId xmlns:p14="http://schemas.microsoft.com/office/powerpoint/2010/main" val="2472489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smtClean="0">
                <a:solidFill>
                  <a:srgbClr val="000000"/>
                </a:solidFill>
                <a:latin typeface="Avenir Light"/>
                <a:cs typeface="Avenir Light"/>
              </a:rPr>
              <a:t>Our Prototype</a:t>
            </a:r>
            <a:endParaRPr lang="en-US" b="1" dirty="0">
              <a:solidFill>
                <a:srgbClr val="000000"/>
              </a:solidFill>
              <a:latin typeface="Avenir Light"/>
              <a:cs typeface="Avenir Ligh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8667"/>
            <a:ext cx="8229600" cy="5079999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Avenir Light"/>
                <a:cs typeface="Avenir Light"/>
              </a:rPr>
              <a:t>Analyzes </a:t>
            </a:r>
            <a:r>
              <a:rPr lang="en-US" dirty="0">
                <a:latin typeface="Avenir Light"/>
                <a:cs typeface="Avenir Light"/>
              </a:rPr>
              <a:t>the airline industry</a:t>
            </a:r>
          </a:p>
          <a:p>
            <a:r>
              <a:rPr lang="en-US" dirty="0" smtClean="0">
                <a:latin typeface="Avenir Light"/>
                <a:cs typeface="Avenir Light"/>
              </a:rPr>
              <a:t>Manually </a:t>
            </a:r>
            <a:r>
              <a:rPr lang="en-US" dirty="0">
                <a:latin typeface="Avenir Light"/>
                <a:cs typeface="Avenir Light"/>
              </a:rPr>
              <a:t>accepts news </a:t>
            </a:r>
            <a:r>
              <a:rPr lang="en-US" dirty="0" smtClean="0">
                <a:latin typeface="Avenir Light"/>
                <a:cs typeface="Avenir Light"/>
              </a:rPr>
              <a:t>articles from dates</a:t>
            </a:r>
            <a:endParaRPr lang="en-US" dirty="0">
              <a:latin typeface="Avenir Light"/>
              <a:cs typeface="Avenir Light"/>
            </a:endParaRPr>
          </a:p>
          <a:p>
            <a:r>
              <a:rPr lang="en-US" dirty="0" smtClean="0">
                <a:latin typeface="Avenir Light"/>
                <a:cs typeface="Avenir Light"/>
              </a:rPr>
              <a:t>Uses </a:t>
            </a:r>
            <a:r>
              <a:rPr lang="en-US" dirty="0">
                <a:latin typeface="Avenir Light"/>
                <a:cs typeface="Avenir Light"/>
              </a:rPr>
              <a:t>machine learning to detect stock behavior from inputted articles</a:t>
            </a:r>
          </a:p>
          <a:p>
            <a:r>
              <a:rPr lang="en-US" dirty="0" smtClean="0">
                <a:latin typeface="Avenir Light"/>
                <a:cs typeface="Avenir Light"/>
              </a:rPr>
              <a:t>Classification </a:t>
            </a:r>
            <a:r>
              <a:rPr lang="en-US" dirty="0">
                <a:latin typeface="Avenir Light"/>
                <a:cs typeface="Avenir Light"/>
              </a:rPr>
              <a:t>aids in predicting future market behavior</a:t>
            </a:r>
            <a:endParaRPr lang="en-US" dirty="0">
              <a:latin typeface="Avenir Light"/>
              <a:cs typeface="Avenir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773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Avenir Light"/>
                <a:cs typeface="Avenir Light"/>
              </a:rPr>
              <a:t>Methodology</a:t>
            </a:r>
            <a:endParaRPr lang="en-US" b="1" dirty="0">
              <a:solidFill>
                <a:srgbClr val="000000"/>
              </a:solidFill>
              <a:latin typeface="Avenir Light"/>
              <a:cs typeface="Avenir Ligh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8667"/>
            <a:ext cx="8229600" cy="5079999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Avenir Light"/>
                <a:cs typeface="Avenir Light"/>
              </a:rPr>
              <a:t>Test </a:t>
            </a:r>
            <a:r>
              <a:rPr lang="en-US" dirty="0">
                <a:latin typeface="Avenir Light"/>
                <a:cs typeface="Avenir Light"/>
              </a:rPr>
              <a:t>data was manually collected based on the derivative of stock price changes over the period of 24 hours</a:t>
            </a:r>
          </a:p>
          <a:p>
            <a:r>
              <a:rPr lang="en-US" dirty="0" smtClean="0">
                <a:latin typeface="Avenir Light"/>
                <a:cs typeface="Avenir Light"/>
              </a:rPr>
              <a:t>Relevant </a:t>
            </a:r>
            <a:r>
              <a:rPr lang="en-US" dirty="0">
                <a:latin typeface="Avenir Light"/>
                <a:cs typeface="Avenir Light"/>
              </a:rPr>
              <a:t>articles were manually collected and assigned a value based on above derivative value</a:t>
            </a:r>
          </a:p>
          <a:p>
            <a:r>
              <a:rPr lang="en-US" dirty="0" smtClean="0">
                <a:latin typeface="Avenir Light"/>
                <a:cs typeface="Avenir Light"/>
              </a:rPr>
              <a:t>Standard </a:t>
            </a:r>
            <a:r>
              <a:rPr lang="en-US" dirty="0">
                <a:latin typeface="Avenir Light"/>
                <a:cs typeface="Avenir Light"/>
              </a:rPr>
              <a:t>60-20-20 train validation-test split used</a:t>
            </a:r>
          </a:p>
        </p:txBody>
      </p:sp>
    </p:spTree>
    <p:extLst>
      <p:ext uri="{BB962C8B-B14F-4D97-AF65-F5344CB8AC3E}">
        <p14:creationId xmlns:p14="http://schemas.microsoft.com/office/powerpoint/2010/main" val="2047505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>
                <a:latin typeface="Avenir Light"/>
                <a:cs typeface="Avenir Light"/>
              </a:rPr>
              <a:t>Results</a:t>
            </a:r>
            <a:endParaRPr lang="en-US" b="1" dirty="0">
              <a:solidFill>
                <a:srgbClr val="000000"/>
              </a:solidFill>
              <a:latin typeface="Avenir Light"/>
              <a:cs typeface="Avenir Ligh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8667"/>
            <a:ext cx="8229600" cy="5079999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Avenir Light"/>
                <a:cs typeface="Avenir Light"/>
              </a:rPr>
              <a:t>Test </a:t>
            </a:r>
            <a:r>
              <a:rPr lang="en-US" dirty="0">
                <a:latin typeface="Avenir Light"/>
                <a:cs typeface="Avenir Light"/>
              </a:rPr>
              <a:t>data was manually collected based on the derivative of stock price changes over the period of 24 hours</a:t>
            </a:r>
          </a:p>
          <a:p>
            <a:r>
              <a:rPr lang="en-US" dirty="0" smtClean="0">
                <a:latin typeface="Avenir Light"/>
                <a:cs typeface="Avenir Light"/>
              </a:rPr>
              <a:t>Relevant </a:t>
            </a:r>
            <a:r>
              <a:rPr lang="en-US" dirty="0">
                <a:latin typeface="Avenir Light"/>
                <a:cs typeface="Avenir Light"/>
              </a:rPr>
              <a:t>articles were manually collected and assigned a value based on above derivative value</a:t>
            </a:r>
          </a:p>
          <a:p>
            <a:r>
              <a:rPr lang="en-US" dirty="0" smtClean="0">
                <a:latin typeface="Avenir Light"/>
                <a:cs typeface="Avenir Light"/>
              </a:rPr>
              <a:t>Standard </a:t>
            </a:r>
            <a:r>
              <a:rPr lang="en-US" dirty="0">
                <a:latin typeface="Avenir Light"/>
                <a:cs typeface="Avenir Light"/>
              </a:rPr>
              <a:t>60-20-20 train validation-test split used</a:t>
            </a:r>
          </a:p>
        </p:txBody>
      </p:sp>
    </p:spTree>
    <p:extLst>
      <p:ext uri="{BB962C8B-B14F-4D97-AF65-F5344CB8AC3E}">
        <p14:creationId xmlns:p14="http://schemas.microsoft.com/office/powerpoint/2010/main" val="1635933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>
                <a:latin typeface="Avenir Light"/>
                <a:cs typeface="Avenir Light"/>
              </a:rPr>
              <a:t>In Progress</a:t>
            </a:r>
            <a:endParaRPr lang="en-US" b="1" dirty="0">
              <a:solidFill>
                <a:srgbClr val="000000"/>
              </a:solidFill>
              <a:latin typeface="Avenir Light"/>
              <a:cs typeface="Avenir Ligh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8667"/>
            <a:ext cx="8229600" cy="5079999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Avenir Light"/>
                <a:cs typeface="Avenir Light"/>
              </a:rPr>
              <a:t>Automation </a:t>
            </a:r>
            <a:r>
              <a:rPr lang="en-US" dirty="0">
                <a:latin typeface="Avenir Light"/>
                <a:cs typeface="Avenir Light"/>
              </a:rPr>
              <a:t>of news article detection</a:t>
            </a:r>
          </a:p>
          <a:p>
            <a:r>
              <a:rPr lang="en-US" dirty="0" smtClean="0">
                <a:latin typeface="Avenir Light"/>
                <a:cs typeface="Avenir Light"/>
              </a:rPr>
              <a:t>Can </a:t>
            </a:r>
            <a:r>
              <a:rPr lang="en-US" dirty="0">
                <a:latin typeface="Avenir Light"/>
                <a:cs typeface="Avenir Light"/>
              </a:rPr>
              <a:t>currently automatically generate articles however needs to classify articles on financial relevance</a:t>
            </a:r>
          </a:p>
          <a:p>
            <a:r>
              <a:rPr lang="en-US" smtClean="0">
                <a:latin typeface="Avenir Light"/>
                <a:cs typeface="Avenir Light"/>
              </a:rPr>
              <a:t>Needs </a:t>
            </a:r>
            <a:r>
              <a:rPr lang="en-US" dirty="0">
                <a:latin typeface="Avenir Light"/>
                <a:cs typeface="Avenir Light"/>
              </a:rPr>
              <a:t>to classify companies in direct competition with </a:t>
            </a:r>
            <a:r>
              <a:rPr lang="en-US" dirty="0" err="1">
                <a:latin typeface="Avenir Light"/>
                <a:cs typeface="Avenir Light"/>
              </a:rPr>
              <a:t>eachother</a:t>
            </a:r>
            <a:endParaRPr lang="en-US" dirty="0">
              <a:latin typeface="Avenir Light"/>
              <a:cs typeface="Avenir Light"/>
            </a:endParaRPr>
          </a:p>
          <a:p>
            <a:r>
              <a:rPr lang="en-US" dirty="0">
                <a:latin typeface="Avenir Light"/>
                <a:cs typeface="Avenir Light"/>
              </a:rPr>
              <a:t>m around the globe</a:t>
            </a:r>
          </a:p>
        </p:txBody>
      </p:sp>
    </p:spTree>
    <p:extLst>
      <p:ext uri="{BB962C8B-B14F-4D97-AF65-F5344CB8AC3E}">
        <p14:creationId xmlns:p14="http://schemas.microsoft.com/office/powerpoint/2010/main" val="1635933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250</Words>
  <Application>Microsoft Macintosh PowerPoint</Application>
  <PresentationFormat>On-screen Show (4:3)</PresentationFormat>
  <Paragraphs>34</Paragraphs>
  <Slides>7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Stock market visualization and classification based on real-time data</vt:lpstr>
      <vt:lpstr>Problem</vt:lpstr>
      <vt:lpstr>The Solution</vt:lpstr>
      <vt:lpstr>Our Prototype</vt:lpstr>
      <vt:lpstr>Methodology</vt:lpstr>
      <vt:lpstr>Results</vt:lpstr>
      <vt:lpstr>In Progress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Velox Health</dc:title>
  <dc:creator>Tony Sun</dc:creator>
  <cp:lastModifiedBy>Tony Sun</cp:lastModifiedBy>
  <cp:revision>29</cp:revision>
  <dcterms:created xsi:type="dcterms:W3CDTF">2015-10-04T04:43:03Z</dcterms:created>
  <dcterms:modified xsi:type="dcterms:W3CDTF">2016-10-23T06:31:09Z</dcterms:modified>
</cp:coreProperties>
</file>